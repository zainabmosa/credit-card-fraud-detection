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AECD4F-F607-4EEF-A3E9-09E4CA51C554}" v="6" dt="2026-05-10T07:39:23.6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5"/>
  </p:normalViewPr>
  <p:slideViewPr>
    <p:cSldViewPr snapToGrid="0">
      <p:cViewPr varScale="1">
        <p:scale>
          <a:sx n="64" d="100"/>
          <a:sy n="64" d="100"/>
        </p:scale>
        <p:origin x="160" y="8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A1A2E"/>
                </a:solidFill>
                <a:latin typeface="Arial"/>
              </a:rPr>
              <a:t>F1-Score Comparison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3A86F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442-4599-8459-9B1E82F7705B}"/>
              </c:ext>
            </c:extLst>
          </c:dPt>
          <c:dPt>
            <c:idx val="1"/>
            <c:invertIfNegative val="0"/>
            <c:bubble3D val="0"/>
            <c:spPr>
              <a:solidFill>
                <a:srgbClr val="FF6B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442-4599-8459-9B1E82F7705B}"/>
              </c:ext>
            </c:extLst>
          </c:dPt>
          <c:dPt>
            <c:idx val="2"/>
            <c:invertIfNegative val="0"/>
            <c:bubble3D val="0"/>
            <c:spPr>
              <a:solidFill>
                <a:srgbClr val="0A93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442-4599-8459-9B1E82F7705B}"/>
              </c:ext>
            </c:extLst>
          </c:dPt>
          <c:dPt>
            <c:idx val="3"/>
            <c:invertIfNegative val="0"/>
            <c:bubble3D val="0"/>
            <c:spPr>
              <a:solidFill>
                <a:srgbClr val="E9C46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442-4599-8459-9B1E82F7705B}"/>
              </c:ext>
            </c:extLst>
          </c:dPt>
          <c:dPt>
            <c:idx val="4"/>
            <c:invertIfNegative val="0"/>
            <c:bubble3D val="0"/>
            <c:spPr>
              <a:solidFill>
                <a:srgbClr val="0A93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442-4599-8459-9B1E82F7705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Log. Reg.</c:v>
                </c:pt>
                <c:pt idx="1">
                  <c:v>Dec. Tree</c:v>
                </c:pt>
                <c:pt idx="2">
                  <c:v>Rand. Forest</c:v>
                </c:pt>
                <c:pt idx="3">
                  <c:v>Grad. Boost</c:v>
                </c:pt>
                <c:pt idx="4">
                  <c:v>RF Tuned ✓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0.1094</c:v>
                </c:pt>
                <c:pt idx="1">
                  <c:v>0.14430000000000001</c:v>
                </c:pt>
                <c:pt idx="2">
                  <c:v>0.81030000000000002</c:v>
                </c:pt>
                <c:pt idx="3">
                  <c:v>0.1888</c:v>
                </c:pt>
                <c:pt idx="4">
                  <c:v>0.83509999999999995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442-4599-8459-9B1E82F7705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A1A2E"/>
                </a:solidFill>
                <a:latin typeface="Arial"/>
              </a:rPr>
              <a:t>F1-Score Comparison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3A86F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442-4599-8459-9B1E82F7705B}"/>
              </c:ext>
            </c:extLst>
          </c:dPt>
          <c:dPt>
            <c:idx val="1"/>
            <c:invertIfNegative val="0"/>
            <c:bubble3D val="0"/>
            <c:spPr>
              <a:solidFill>
                <a:srgbClr val="FF6B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442-4599-8459-9B1E82F7705B}"/>
              </c:ext>
            </c:extLst>
          </c:dPt>
          <c:dPt>
            <c:idx val="2"/>
            <c:invertIfNegative val="0"/>
            <c:bubble3D val="0"/>
            <c:spPr>
              <a:solidFill>
                <a:srgbClr val="0A93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442-4599-8459-9B1E82F7705B}"/>
              </c:ext>
            </c:extLst>
          </c:dPt>
          <c:dPt>
            <c:idx val="3"/>
            <c:invertIfNegative val="0"/>
            <c:bubble3D val="0"/>
            <c:spPr>
              <a:solidFill>
                <a:srgbClr val="E9C46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442-4599-8459-9B1E82F7705B}"/>
              </c:ext>
            </c:extLst>
          </c:dPt>
          <c:dPt>
            <c:idx val="4"/>
            <c:invertIfNegative val="0"/>
            <c:bubble3D val="0"/>
            <c:spPr>
              <a:solidFill>
                <a:srgbClr val="0A93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442-4599-8459-9B1E82F7705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Log. Reg.</c:v>
                </c:pt>
                <c:pt idx="1">
                  <c:v>Dec. Tree</c:v>
                </c:pt>
                <c:pt idx="2">
                  <c:v>Rand. Forest</c:v>
                </c:pt>
                <c:pt idx="3">
                  <c:v>Grad. Boost</c:v>
                </c:pt>
                <c:pt idx="4">
                  <c:v>RF Tuned ✓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0.1094</c:v>
                </c:pt>
                <c:pt idx="1">
                  <c:v>0.14430000000000001</c:v>
                </c:pt>
                <c:pt idx="2">
                  <c:v>0.81030000000000002</c:v>
                </c:pt>
                <c:pt idx="3">
                  <c:v>0.1888</c:v>
                </c:pt>
                <c:pt idx="4">
                  <c:v>0.83509999999999995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442-4599-8459-9B1E82F7705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2101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E5A8D-96A5-89DB-3572-7E7EE0552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B7B3BD-3976-017C-C0E6-ECBE1E0446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F736C0-5E01-A632-1653-6636E20BE8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97E75D-3F96-BD76-E60C-D607172B4E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4047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0A9396">
              <a:alpha val="20000"/>
            </a:srgbClr>
          </a:solidFill>
          <a:ln w="12700">
            <a:solidFill>
              <a:srgbClr val="0A939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589520" y="-274320"/>
            <a:ext cx="2286000" cy="2286000"/>
          </a:xfrm>
          <a:prstGeom prst="ellipse">
            <a:avLst/>
          </a:prstGeom>
          <a:solidFill>
            <a:srgbClr val="0A9396">
              <a:alpha val="30000"/>
            </a:srgbClr>
          </a:solidFill>
          <a:ln w="12700">
            <a:solidFill>
              <a:srgbClr val="94D2B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82296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1965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320040" y="288036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i="1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Approach to Financial Security</a:t>
            </a:r>
            <a:endParaRPr lang="en-US" sz="1700"/>
          </a:p>
        </p:txBody>
      </p:sp>
      <p:sp>
        <p:nvSpPr>
          <p:cNvPr id="8" name="Shape 5"/>
          <p:cNvSpPr/>
          <p:nvPr/>
        </p:nvSpPr>
        <p:spPr>
          <a:xfrm>
            <a:off x="320040" y="3383280"/>
            <a:ext cx="5029200" cy="36576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20040" y="361188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Zahra Mohamed Abdulla  |  202203702</a:t>
            </a:r>
            <a:endParaRPr lang="en-US" sz="1300"/>
          </a:p>
          <a:p>
            <a:pPr marL="0" indent="0" algn="l">
              <a:buNone/>
            </a:pPr>
            <a:r>
              <a:rPr lang="en-US" sz="130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Zainab Mohamed Moosa  |  202205075</a:t>
            </a:r>
            <a:endParaRPr lang="en-US" sz="1300"/>
          </a:p>
        </p:txBody>
      </p:sp>
      <p:sp>
        <p:nvSpPr>
          <p:cNvPr id="10" name="Text 7"/>
          <p:cNvSpPr/>
          <p:nvPr/>
        </p:nvSpPr>
        <p:spPr>
          <a:xfrm>
            <a:off x="320040" y="420624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ITCS 494: Machine Learning  ·  University of Bahrain</a:t>
            </a:r>
          </a:p>
          <a:p>
            <a:pPr marL="0" indent="0" algn="l">
              <a:buNone/>
            </a:pPr>
            <a:r>
              <a:rPr lang="en-US" sz="110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Fatema  </a:t>
            </a:r>
            <a:r>
              <a:rPr lang="en-US" sz="1100" err="1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Albalooshi</a:t>
            </a:r>
            <a:endParaRPr lang="en-US" sz="1100">
              <a:solidFill>
                <a:srgbClr val="8899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110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Overview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109728" cy="9601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12070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566928" y="1481328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causes billions in annual losses. Detecting rare fraudulent transactions in real-time is critical for financial institutions.</a:t>
            </a:r>
            <a:endParaRPr lang="en-US" sz="1150"/>
          </a:p>
        </p:txBody>
      </p:sp>
      <p:sp>
        <p:nvSpPr>
          <p:cNvPr id="8" name="Shape 6"/>
          <p:cNvSpPr/>
          <p:nvPr/>
        </p:nvSpPr>
        <p:spPr>
          <a:xfrm>
            <a:off x="365760" y="224028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2240280"/>
            <a:ext cx="109728" cy="96012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6928" y="23042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Difficulty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566928" y="2578608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class imbalance: only 0.17% of transactions are fraudulent. A naive model that always predicts 'normal' scores 99.83% accuracy — yet catches zero fraud.</a:t>
            </a:r>
            <a:endParaRPr lang="en-US" sz="1150"/>
          </a:p>
        </p:txBody>
      </p:sp>
      <p:sp>
        <p:nvSpPr>
          <p:cNvPr id="12" name="Shape 10"/>
          <p:cNvSpPr/>
          <p:nvPr/>
        </p:nvSpPr>
        <p:spPr>
          <a:xfrm>
            <a:off x="365760" y="333756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3337560"/>
            <a:ext cx="109728" cy="960120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34015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566928" y="3675888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compare, and tune multiple ML classifiers to detect fraud with high precision and recall — making false alarms manageable for analysts.</a:t>
            </a:r>
            <a:endParaRPr lang="en-US" sz="1150"/>
          </a:p>
        </p:txBody>
      </p:sp>
      <p:sp>
        <p:nvSpPr>
          <p:cNvPr id="16" name="Shape 14"/>
          <p:cNvSpPr/>
          <p:nvPr/>
        </p:nvSpPr>
        <p:spPr>
          <a:xfrm>
            <a:off x="4709160" y="1143000"/>
            <a:ext cx="4114800" cy="3657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92040" y="12618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at a Glance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4892040" y="171907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284,807</a:t>
            </a:r>
            <a:endParaRPr lang="en-US" sz="2400"/>
          </a:p>
        </p:txBody>
      </p:sp>
      <p:sp>
        <p:nvSpPr>
          <p:cNvPr id="19" name="Text 17"/>
          <p:cNvSpPr/>
          <p:nvPr/>
        </p:nvSpPr>
        <p:spPr>
          <a:xfrm>
            <a:off x="6172200" y="17830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4892040" y="24688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492</a:t>
            </a:r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6172200" y="25328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Cases (0.17%)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4892040" y="321868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2400"/>
          </a:p>
        </p:txBody>
      </p:sp>
      <p:sp>
        <p:nvSpPr>
          <p:cNvPr id="23" name="Text 21"/>
          <p:cNvSpPr/>
          <p:nvPr/>
        </p:nvSpPr>
        <p:spPr>
          <a:xfrm>
            <a:off x="6172200" y="328269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(V1–V28 + Time, Amount, Class)</a:t>
            </a:r>
            <a:endParaRPr lang="en-US" sz="1100"/>
          </a:p>
        </p:txBody>
      </p:sp>
      <p:sp>
        <p:nvSpPr>
          <p:cNvPr id="24" name="Text 22"/>
          <p:cNvSpPr/>
          <p:nvPr/>
        </p:nvSpPr>
        <p:spPr>
          <a:xfrm>
            <a:off x="4892040" y="396849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400"/>
          </a:p>
        </p:txBody>
      </p:sp>
      <p:sp>
        <p:nvSpPr>
          <p:cNvPr id="25" name="Text 23"/>
          <p:cNvSpPr/>
          <p:nvPr/>
        </p:nvSpPr>
        <p:spPr>
          <a:xfrm>
            <a:off x="6172200" y="403250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Preprocessing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30352" y="1307592"/>
            <a:ext cx="475488" cy="475488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1307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1115568" y="13258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</a:t>
            </a:r>
            <a:endParaRPr lang="en-US" sz="1350"/>
          </a:p>
        </p:txBody>
      </p:sp>
      <p:sp>
        <p:nvSpPr>
          <p:cNvPr id="8" name="Text 6"/>
          <p:cNvSpPr/>
          <p:nvPr/>
        </p:nvSpPr>
        <p:spPr>
          <a:xfrm>
            <a:off x="530352" y="1764792"/>
            <a:ext cx="3794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applied to Amount and Time features (V1–V28 already PCA-scaled). Ensures equal contribution of all features during training.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4800600" y="114300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965192" y="1307592"/>
            <a:ext cx="475488" cy="475488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65192" y="1307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5550408" y="13258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1350"/>
          </a:p>
        </p:txBody>
      </p:sp>
      <p:sp>
        <p:nvSpPr>
          <p:cNvPr id="13" name="Text 11"/>
          <p:cNvSpPr/>
          <p:nvPr/>
        </p:nvSpPr>
        <p:spPr>
          <a:xfrm>
            <a:off x="4965192" y="1764792"/>
            <a:ext cx="3794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stratified split → 227,845 training / 56,962 test samples. Stratification preserves the 0.17% fraud ratio in both partitions.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30352" y="3182112"/>
            <a:ext cx="475488" cy="475488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0352" y="3182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1115568" y="32004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Balancing</a:t>
            </a:r>
            <a:endParaRPr lang="en-US" sz="1350"/>
          </a:p>
        </p:txBody>
      </p:sp>
      <p:sp>
        <p:nvSpPr>
          <p:cNvPr id="18" name="Text 16"/>
          <p:cNvSpPr/>
          <p:nvPr/>
        </p:nvSpPr>
        <p:spPr>
          <a:xfrm>
            <a:off x="530352" y="3639312"/>
            <a:ext cx="3794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Minority Over-sampling generates fake fraud samples in the training set only. Result: 227,451 samples per class — perfectly balanced.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>
          <a:xfrm>
            <a:off x="4800600" y="301752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965192" y="3182112"/>
            <a:ext cx="475488" cy="475488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65192" y="3182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5550408" y="32004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350"/>
          </a:p>
        </p:txBody>
      </p:sp>
      <p:sp>
        <p:nvSpPr>
          <p:cNvPr id="23" name="Text 21"/>
          <p:cNvSpPr/>
          <p:nvPr/>
        </p:nvSpPr>
        <p:spPr>
          <a:xfrm>
            <a:off x="4965192" y="3639312"/>
            <a:ext cx="3794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classifiers trained on SMOTE-resampled data: Logistic Regression, Decision Tree, Random Forest, Gradient Boosting.</a:t>
            </a:r>
            <a:endParaRPr lang="en-US" sz="1100"/>
          </a:p>
        </p:txBody>
      </p:sp>
      <p:sp>
        <p:nvSpPr>
          <p:cNvPr id="24" name="Shape 2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4690872"/>
            <a:ext cx="8412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SMOTE was applied only to training data — the test set remains real-world data, ensuring unbiased evaluation.</a:t>
            </a:r>
            <a:endParaRPr lang="en-US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4114800" cy="347472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350"/>
          </a:p>
        </p:txBody>
      </p:sp>
      <p:sp>
        <p:nvSpPr>
          <p:cNvPr id="7" name="Text 5"/>
          <p:cNvSpPr/>
          <p:nvPr/>
        </p:nvSpPr>
        <p:spPr>
          <a:xfrm>
            <a:off x="502920" y="1536192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probabilistic baseline. Interpretable, fast. Good for calibrated probabilities but limited to linear decision boundaries.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4800600" y="1115568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00600" y="1115568"/>
            <a:ext cx="4114800" cy="34747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0" y="114300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350"/>
          </a:p>
        </p:txBody>
      </p:sp>
      <p:sp>
        <p:nvSpPr>
          <p:cNvPr id="12" name="Text 10"/>
          <p:cNvSpPr/>
          <p:nvPr/>
        </p:nvSpPr>
        <p:spPr>
          <a:xfrm>
            <a:off x="4937760" y="1536192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feature-space partitioning. Interpretable, captures non-linearity. Single trees are prone to variance.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365760" y="2944368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2944368"/>
            <a:ext cx="4114800" cy="3474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97180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50"/>
          </a:p>
        </p:txBody>
      </p:sp>
      <p:sp>
        <p:nvSpPr>
          <p:cNvPr id="17" name="Text 15"/>
          <p:cNvSpPr/>
          <p:nvPr/>
        </p:nvSpPr>
        <p:spPr>
          <a:xfrm>
            <a:off x="502920" y="3364992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100 trees on bootstrap samples. Reduces variance via aggregation. Reliable feature importance scores.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>
          <a:xfrm>
            <a:off x="4800600" y="2944368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00600" y="2944368"/>
            <a:ext cx="4114800" cy="34747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37760" y="297180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350"/>
          </a:p>
        </p:txBody>
      </p:sp>
      <p:sp>
        <p:nvSpPr>
          <p:cNvPr id="22" name="Text 20"/>
          <p:cNvSpPr/>
          <p:nvPr/>
        </p:nvSpPr>
        <p:spPr>
          <a:xfrm>
            <a:off x="4937760" y="3364992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ensemble correcting residual errors. Highest AUC. More compute-intensive; requires careful tuning.</a:t>
            </a:r>
            <a:endParaRPr lang="en-US" sz="1100"/>
          </a:p>
        </p:txBody>
      </p:sp>
      <p:sp>
        <p:nvSpPr>
          <p:cNvPr id="24" name="Shape 2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714D158-24F2-BEC5-963D-05E6CFF47C99}"/>
              </a:ext>
            </a:extLst>
          </p:cNvPr>
          <p:cNvSpPr/>
          <p:nvPr/>
        </p:nvSpPr>
        <p:spPr>
          <a:xfrm>
            <a:off x="502920" y="243230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max_iter=1000</a:t>
            </a:r>
            <a:endParaRPr lang="en-US" sz="10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F123AF5-28C9-BAF6-2819-84A36C1F6FE8}"/>
              </a:ext>
            </a:extLst>
          </p:cNvPr>
          <p:cNvSpPr/>
          <p:nvPr/>
        </p:nvSpPr>
        <p:spPr>
          <a:xfrm>
            <a:off x="4937760" y="243230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max_depth=10</a:t>
            </a:r>
            <a:endParaRPr lang="en-US" sz="1000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747BB12E-9D78-A644-36F7-C2A484E0D162}"/>
              </a:ext>
            </a:extLst>
          </p:cNvPr>
          <p:cNvSpPr/>
          <p:nvPr/>
        </p:nvSpPr>
        <p:spPr>
          <a:xfrm>
            <a:off x="502920" y="426110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n_estimators=100</a:t>
            </a:r>
            <a:endParaRPr lang="en-US" sz="1000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3838A39E-4536-5D78-9B51-D02850F21BA8}"/>
              </a:ext>
            </a:extLst>
          </p:cNvPr>
          <p:cNvSpPr/>
          <p:nvPr/>
        </p:nvSpPr>
        <p:spPr>
          <a:xfrm>
            <a:off x="4937760" y="426110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n_estimators=100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Results</a:t>
            </a:r>
            <a:endParaRPr lang="en-US" sz="280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78992"/>
          <a:ext cx="8503920" cy="29260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52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52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52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52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52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94D2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94D2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94D2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94D2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94D2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94D2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 AUC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0.9743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0.0581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0.9184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0.1094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0.9698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0.9836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0.0792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0.8061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0.1443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0.8950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0.9994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0.8144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0.8061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0.8103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0.9688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0.9867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0.1055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0.8980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0.1888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0.9807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94D2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(Tuned) ✓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94D2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0.9994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94D2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0.8438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94D2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0.8265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94D2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0.8351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94D2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0.9649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4161792946"/>
              </p:ext>
            </p:extLst>
          </p:nvPr>
        </p:nvGraphicFramePr>
        <p:xfrm>
          <a:off x="320040" y="4133088"/>
          <a:ext cx="5029200" cy="914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2"/>
          <p:cNvSpPr/>
          <p:nvPr/>
        </p:nvSpPr>
        <p:spPr>
          <a:xfrm>
            <a:off x="5486400" y="4114800"/>
            <a:ext cx="3474720" cy="10058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5623560" y="41605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RF (Tuned)
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0.8351  |  Precision: 84.4%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15 false alarms per 81 fraud alerts</a:t>
            </a:r>
            <a:endParaRPr lang="en-US" sz="11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69182B-0269-199B-10D5-5AFA9CA59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7F8ADA7-EC28-FA1F-571B-02332647D8DB}"/>
              </a:ext>
            </a:extLst>
          </p:cNvPr>
          <p:cNvSpPr/>
          <p:nvPr/>
        </p:nvSpPr>
        <p:spPr>
          <a:xfrm>
            <a:off x="67377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46DC44F-5CFE-2B52-F6FD-5B27ABD0AECA}"/>
              </a:ext>
            </a:extLst>
          </p:cNvPr>
          <p:cNvSpPr/>
          <p:nvPr/>
        </p:nvSpPr>
        <p:spPr>
          <a:xfrm>
            <a:off x="45720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Results</a:t>
            </a:r>
            <a:endParaRPr lang="en-US" sz="2800"/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2EB41AA9-8EB1-E7A6-7B87-07A170E88892}"/>
              </a:ext>
            </a:extLst>
          </p:cNvPr>
          <p:cNvGraphicFramePr>
            <a:graphicFrameLocks noGrp="1"/>
          </p:cNvGraphicFramePr>
          <p:nvPr/>
        </p:nvGraphicFramePr>
        <p:xfrm>
          <a:off x="320040" y="1078992"/>
          <a:ext cx="8503920" cy="29260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52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52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52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52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52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94D2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94D2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94D2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94D2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94D2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94D2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 AUC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0.9743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0.0581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0.9184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0.1094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0.9698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0.9836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0.0792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0.8061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0.1443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0.8950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0.9994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0.8144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0.8061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0.8103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0.9688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0.9867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0.1055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0.8980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0.1888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0.9807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94D2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(Tuned) ✓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94D2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0.9994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94D2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0.8438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94D2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0.8265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94D2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0.8351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94D2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0.9649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Chart 0">
            <a:extLst>
              <a:ext uri="{FF2B5EF4-FFF2-40B4-BE49-F238E27FC236}">
                <a16:creationId xmlns:a16="http://schemas.microsoft.com/office/drawing/2014/main" id="{401299C3-D0AA-8C2A-A426-81510EB713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17977023"/>
              </p:ext>
            </p:extLst>
          </p:nvPr>
        </p:nvGraphicFramePr>
        <p:xfrm>
          <a:off x="320040" y="1828801"/>
          <a:ext cx="5029200" cy="32186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2">
            <a:extLst>
              <a:ext uri="{FF2B5EF4-FFF2-40B4-BE49-F238E27FC236}">
                <a16:creationId xmlns:a16="http://schemas.microsoft.com/office/drawing/2014/main" id="{27B78E90-BC5F-FC69-067D-914C6F3CF658}"/>
              </a:ext>
            </a:extLst>
          </p:cNvPr>
          <p:cNvSpPr/>
          <p:nvPr/>
        </p:nvSpPr>
        <p:spPr>
          <a:xfrm>
            <a:off x="5486400" y="4114800"/>
            <a:ext cx="3474720" cy="10058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452AAB2B-8489-8839-BE9E-76692F65F4F3}"/>
              </a:ext>
            </a:extLst>
          </p:cNvPr>
          <p:cNvSpPr/>
          <p:nvPr/>
        </p:nvSpPr>
        <p:spPr>
          <a:xfrm>
            <a:off x="5623560" y="41605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RF (Tuned)
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0.8351  |  Precision: 84.4%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15 false alarms per 81 fraud alerts</a:t>
            </a:r>
            <a:endParaRPr lang="en-US" sz="1150"/>
          </a:p>
        </p:txBody>
      </p:sp>
    </p:spTree>
    <p:extLst>
      <p:ext uri="{BB962C8B-B14F-4D97-AF65-F5344CB8AC3E}">
        <p14:creationId xmlns:p14="http://schemas.microsoft.com/office/powerpoint/2010/main" val="935379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5486400" cy="5486400"/>
          </a:xfrm>
          <a:prstGeom prst="ellipse">
            <a:avLst/>
          </a:prstGeom>
          <a:solidFill>
            <a:srgbClr val="0A9396">
              <a:alpha val="12000"/>
            </a:srgbClr>
          </a:solidFill>
          <a:ln w="12700">
            <a:solidFill>
              <a:srgbClr val="0A939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0A9396">
              <a:alpha val="10000"/>
            </a:srgbClr>
          </a:solidFill>
          <a:ln w="12700">
            <a:solidFill>
              <a:srgbClr val="0A9396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Recommendations</a:t>
            </a:r>
            <a:endParaRPr lang="en-US" sz="2800"/>
          </a:p>
        </p:txBody>
      </p:sp>
      <p:sp>
        <p:nvSpPr>
          <p:cNvPr id="6" name="Text 4"/>
          <p:cNvSpPr/>
          <p:nvPr/>
        </p:nvSpPr>
        <p:spPr>
          <a:xfrm>
            <a:off x="347472" y="98755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500"/>
          </a:p>
        </p:txBody>
      </p:sp>
      <p:sp>
        <p:nvSpPr>
          <p:cNvPr id="7" name="Shape 5"/>
          <p:cNvSpPr/>
          <p:nvPr/>
        </p:nvSpPr>
        <p:spPr>
          <a:xfrm>
            <a:off x="347472" y="1426464"/>
            <a:ext cx="201168" cy="201168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3898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CCD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essential — imbalance correction transformed recall from near-zero to 80%+.</a:t>
            </a:r>
            <a:endParaRPr lang="en-US" sz="1150"/>
          </a:p>
        </p:txBody>
      </p:sp>
      <p:sp>
        <p:nvSpPr>
          <p:cNvPr id="9" name="Shape 7"/>
          <p:cNvSpPr/>
          <p:nvPr/>
        </p:nvSpPr>
        <p:spPr>
          <a:xfrm>
            <a:off x="347472" y="2020824"/>
            <a:ext cx="201168" cy="201168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19842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CCD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&gt; Single models: Random Forest &amp; Gradient Boosting dominated precision metrics.</a:t>
            </a:r>
            <a:endParaRPr lang="en-US" sz="1150"/>
          </a:p>
        </p:txBody>
      </p:sp>
      <p:sp>
        <p:nvSpPr>
          <p:cNvPr id="11" name="Shape 9"/>
          <p:cNvSpPr/>
          <p:nvPr/>
        </p:nvSpPr>
        <p:spPr>
          <a:xfrm>
            <a:off x="347472" y="2615184"/>
            <a:ext cx="201168" cy="201168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5786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CCD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improved RF F1 from 0.8103 → 0.8351, precision from 81% → 84%.</a:t>
            </a:r>
            <a:endParaRPr lang="en-US" sz="1150"/>
          </a:p>
        </p:txBody>
      </p:sp>
      <p:sp>
        <p:nvSpPr>
          <p:cNvPr id="13" name="Shape 11"/>
          <p:cNvSpPr/>
          <p:nvPr/>
        </p:nvSpPr>
        <p:spPr>
          <a:xfrm>
            <a:off x="347472" y="3209544"/>
            <a:ext cx="201168" cy="201168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1729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CCD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V14, V17, V12 are the most predictive features for fraud detection.</a:t>
            </a:r>
            <a:endParaRPr lang="en-US" sz="1150"/>
          </a:p>
        </p:txBody>
      </p:sp>
      <p:sp>
        <p:nvSpPr>
          <p:cNvPr id="15" name="Text 13"/>
          <p:cNvSpPr/>
          <p:nvPr/>
        </p:nvSpPr>
        <p:spPr>
          <a:xfrm>
            <a:off x="4846320" y="98755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500"/>
          </a:p>
        </p:txBody>
      </p:sp>
      <p:sp>
        <p:nvSpPr>
          <p:cNvPr id="16" name="Shape 14"/>
          <p:cNvSpPr/>
          <p:nvPr/>
        </p:nvSpPr>
        <p:spPr>
          <a:xfrm>
            <a:off x="4846320" y="1389888"/>
            <a:ext cx="4023360" cy="502920"/>
          </a:xfrm>
          <a:prstGeom prst="rect">
            <a:avLst/>
          </a:prstGeom>
          <a:solidFill>
            <a:srgbClr val="132238"/>
          </a:solidFill>
          <a:ln w="12700">
            <a:solidFill>
              <a:srgbClr val="1F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83480" y="140817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CCD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Deploy Tuned RF — 84% precision, operationally feasible false alarm rate.</a:t>
            </a:r>
            <a:endParaRPr lang="en-US" sz="1100"/>
          </a:p>
        </p:txBody>
      </p:sp>
      <p:sp>
        <p:nvSpPr>
          <p:cNvPr id="18" name="Shape 16"/>
          <p:cNvSpPr/>
          <p:nvPr/>
        </p:nvSpPr>
        <p:spPr>
          <a:xfrm>
            <a:off x="4846320" y="1984248"/>
            <a:ext cx="4023360" cy="502920"/>
          </a:xfrm>
          <a:prstGeom prst="rect">
            <a:avLst/>
          </a:prstGeom>
          <a:solidFill>
            <a:srgbClr val="132238"/>
          </a:solidFill>
          <a:ln w="12700">
            <a:solidFill>
              <a:srgbClr val="1F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83480" y="200253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CCD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Threshold tuning — adjust decision cutoff to balance cost of missed fraud vs false alerts.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>
            <a:off x="4846320" y="2578608"/>
            <a:ext cx="4023360" cy="502920"/>
          </a:xfrm>
          <a:prstGeom prst="rect">
            <a:avLst/>
          </a:prstGeom>
          <a:solidFill>
            <a:srgbClr val="132238"/>
          </a:solidFill>
          <a:ln w="12700">
            <a:solidFill>
              <a:srgbClr val="1F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83480" y="259689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CCD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Quarterly retraining — fraud patterns evolve; refresh model on recent data.</a:t>
            </a:r>
            <a:endParaRPr lang="en-US" sz="1100"/>
          </a:p>
        </p:txBody>
      </p:sp>
      <p:sp>
        <p:nvSpPr>
          <p:cNvPr id="22" name="Shape 20"/>
          <p:cNvSpPr/>
          <p:nvPr/>
        </p:nvSpPr>
        <p:spPr>
          <a:xfrm>
            <a:off x="4846320" y="3172968"/>
            <a:ext cx="4023360" cy="502920"/>
          </a:xfrm>
          <a:prstGeom prst="rect">
            <a:avLst/>
          </a:prstGeom>
          <a:solidFill>
            <a:srgbClr val="132238"/>
          </a:solidFill>
          <a:ln w="12700">
            <a:solidFill>
              <a:srgbClr val="1F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83480" y="319125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CCD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Explore LightGBM / XGBoost + stacking for further AUC improvement.</a:t>
            </a:r>
            <a:endParaRPr lang="en-US" sz="1100"/>
          </a:p>
        </p:txBody>
      </p:sp>
      <p:sp>
        <p:nvSpPr>
          <p:cNvPr id="24" name="Shape 22"/>
          <p:cNvSpPr/>
          <p:nvPr/>
        </p:nvSpPr>
        <p:spPr>
          <a:xfrm>
            <a:off x="320040" y="4480560"/>
            <a:ext cx="8503920" cy="457200"/>
          </a:xfrm>
          <a:prstGeom prst="rect">
            <a:avLst/>
          </a:prstGeom>
          <a:solidFill>
            <a:srgbClr val="0A2540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450799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 Anonymised PCA features limit domain engineering  ·  Random (not time-based) split may overestimate performance  ·  No real-time pipeline tested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e069c64-97de-41b1-b6a5-363c07bccaa3}" enabled="1" method="Standard" siteId="{026137b5-e313-46d1-9b2f-026ecb50c84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675</Words>
  <Application>Microsoft Macintosh PowerPoint</Application>
  <PresentationFormat>On-screen Show (16:9)</PresentationFormat>
  <Paragraphs>151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Fraud Detection</dc:title>
  <dc:subject>PptxGenJS Presentation</dc:subject>
  <dc:creator>PptxGenJS</dc:creator>
  <cp:lastModifiedBy>ZAINAB MOHAMED ABDULAMEER MOOSA</cp:lastModifiedBy>
  <cp:revision>2</cp:revision>
  <dcterms:created xsi:type="dcterms:W3CDTF">2026-05-06T07:40:07Z</dcterms:created>
  <dcterms:modified xsi:type="dcterms:W3CDTF">2026-08-16T08:25:31Z</dcterms:modified>
</cp:coreProperties>
</file>